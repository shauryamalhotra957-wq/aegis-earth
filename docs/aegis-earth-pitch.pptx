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f989dc62a734662" /><Relationship Type="http://schemas.openxmlformats.org/officeDocument/2006/relationships/extended-properties" Target="/docProps/app.xml" Id="R3c36e76329944d7a" /><Relationship Type="http://schemas.openxmlformats.org/officeDocument/2006/relationships/officeDocument" Target="/ppt/presentation.xml" Id="Rc76e44ff4f444a8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fc3b33e20a54e50"/>
  </p:sldMasterIdLst>
  <p:notesMasterIdLst>
    <p:notesMasterId xmlns:r="http://schemas.openxmlformats.org/officeDocument/2006/relationships" r:id="R029faa01f0ee4fa2"/>
  </p:notesMasterIdLst>
  <p:sldIdLst>
    <p:sldId xmlns:r="http://schemas.openxmlformats.org/officeDocument/2006/relationships" id="256" r:id="R6248acb7a2b34a25"/>
    <p:sldId xmlns:r="http://schemas.openxmlformats.org/officeDocument/2006/relationships" id="257" r:id="R419d6da20f154ab7"/>
    <p:sldId xmlns:r="http://schemas.openxmlformats.org/officeDocument/2006/relationships" id="258" r:id="Raebcc91c1ad44d9c"/>
    <p:sldId xmlns:r="http://schemas.openxmlformats.org/officeDocument/2006/relationships" id="259" r:id="R6b441a35a6a64d60"/>
    <p:sldId xmlns:r="http://schemas.openxmlformats.org/officeDocument/2006/relationships" id="260" r:id="Rc74a92cb77394579"/>
    <p:sldId xmlns:r="http://schemas.openxmlformats.org/officeDocument/2006/relationships" id="261" r:id="R2ac7af44335d4a41"/>
    <p:sldId xmlns:r="http://schemas.openxmlformats.org/officeDocument/2006/relationships" id="262" r:id="R94f71e2db7a94c3f"/>
    <p:sldId xmlns:r="http://schemas.openxmlformats.org/officeDocument/2006/relationships" id="263" r:id="R2ab5a879e54e4b0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ef6329f44964a6a" /><Relationship Type="http://schemas.openxmlformats.org/officeDocument/2006/relationships/slideMaster" Target="/ppt/slideMasters/slideMaster1.xml" Id="R1fc3b33e20a54e50" /><Relationship Type="http://schemas.openxmlformats.org/officeDocument/2006/relationships/notesMaster" Target="/ppt/notesMasters/notesMaster1.xml" Id="R029faa01f0ee4fa2" /><Relationship Type="http://schemas.openxmlformats.org/officeDocument/2006/relationships/presProps" Target="/ppt/presProps.xml" Id="Rf4b8192d29bb4ac7" /><Relationship Type="http://schemas.openxmlformats.org/officeDocument/2006/relationships/tableStyles" Target="/ppt/tableStyles.xml" Id="R386e5bfb963c4277" /><Relationship Type="http://schemas.openxmlformats.org/officeDocument/2006/relationships/slide" Target="/ppt/slides/slide1.xml" Id="R6248acb7a2b34a25" /><Relationship Type="http://schemas.openxmlformats.org/officeDocument/2006/relationships/slide" Target="/ppt/slides/slide2.xml" Id="R419d6da20f154ab7" /><Relationship Type="http://schemas.openxmlformats.org/officeDocument/2006/relationships/slide" Target="/ppt/slides/slide3.xml" Id="Raebcc91c1ad44d9c" /><Relationship Type="http://schemas.openxmlformats.org/officeDocument/2006/relationships/slide" Target="/ppt/slides/slide4.xml" Id="R6b441a35a6a64d60" /><Relationship Type="http://schemas.openxmlformats.org/officeDocument/2006/relationships/slide" Target="/ppt/slides/slide5.xml" Id="Rc74a92cb77394579" /><Relationship Type="http://schemas.openxmlformats.org/officeDocument/2006/relationships/slide" Target="/ppt/slides/slide6.xml" Id="R2ac7af44335d4a41" /><Relationship Type="http://schemas.openxmlformats.org/officeDocument/2006/relationships/slide" Target="/ppt/slides/slide7.xml" Id="R94f71e2db7a94c3f" /><Relationship Type="http://schemas.openxmlformats.org/officeDocument/2006/relationships/slide" Target="/ppt/slides/slide8.xml" Id="R2ab5a879e54e4b0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8385be46b2b4fc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d76335492654a72" /><Relationship Type="http://schemas.openxmlformats.org/officeDocument/2006/relationships/notesMaster" Target="/ppt/notesMasters/notesMaster1.xml" Id="Rdb605a4a23444bb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dd4ac4c1c1b4f3a" /><Relationship Type="http://schemas.openxmlformats.org/officeDocument/2006/relationships/notesMaster" Target="/ppt/notesMasters/notesMaster1.xml" Id="Rdc51da5117604c4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9ce8835c4bf4f2c" /><Relationship Type="http://schemas.openxmlformats.org/officeDocument/2006/relationships/notesMaster" Target="/ppt/notesMasters/notesMaster1.xml" Id="R668e0996e1964f5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1e12d480ee8470f" /><Relationship Type="http://schemas.openxmlformats.org/officeDocument/2006/relationships/notesMaster" Target="/ppt/notesMasters/notesMaster1.xml" Id="R3ff6fe732ade4e2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70f3251231b4438" /><Relationship Type="http://schemas.openxmlformats.org/officeDocument/2006/relationships/notesMaster" Target="/ppt/notesMasters/notesMaster1.xml" Id="Re25d6d4b1f4946e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71bd58934224e13" /><Relationship Type="http://schemas.openxmlformats.org/officeDocument/2006/relationships/notesMaster" Target="/ppt/notesMasters/notesMaster1.xml" Id="Recf14d43508f4a0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621c769043f484a" /><Relationship Type="http://schemas.openxmlformats.org/officeDocument/2006/relationships/notesMaster" Target="/ppt/notesMasters/notesMaster1.xml" Id="Rb3d1ae8f46d948d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b819b1aa81c4365" /><Relationship Type="http://schemas.openxmlformats.org/officeDocument/2006/relationships/notesMaster" Target="/ppt/notesMasters/notesMaster1.xml" Id="Rf5fbdcf7aa174f5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b6a69ba548f41a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0610f5213cb4298" /><Relationship Type="http://schemas.openxmlformats.org/officeDocument/2006/relationships/slideLayout" Target="/ppt/slideLayouts/slideLayout1.xml" Id="R55f347e3f770480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5f347e3f770480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2e8991666e412c" /><Relationship Type="http://schemas.openxmlformats.org/officeDocument/2006/relationships/image" Target="/ppt/media/image.jpeg" Id="Re1b4a84519074f73" /><Relationship Type="http://schemas.openxmlformats.org/officeDocument/2006/relationships/notesSlide" Target="/ppt/notesSlides/notesSlide1.xml" Id="Ree84735b07604d9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918b1d66e1442a" /><Relationship Type="http://schemas.openxmlformats.org/officeDocument/2006/relationships/notesSlide" Target="/ppt/notesSlides/notesSlide2.xml" Id="R2d340a9f256b49a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865b66f03a4331" /><Relationship Type="http://schemas.openxmlformats.org/officeDocument/2006/relationships/image" Target="/ppt/media/image2.jpeg" Id="Rd5ffff7b88bd42a8" /><Relationship Type="http://schemas.openxmlformats.org/officeDocument/2006/relationships/notesSlide" Target="/ppt/notesSlides/notesSlide3.xml" Id="Rb11c2cbdf7284af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b33e86f0d143e8" /><Relationship Type="http://schemas.openxmlformats.org/officeDocument/2006/relationships/notesSlide" Target="/ppt/notesSlides/notesSlide4.xml" Id="Rc3ac020c8b5844b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3658ffbf894d50" /><Relationship Type="http://schemas.openxmlformats.org/officeDocument/2006/relationships/notesSlide" Target="/ppt/notesSlides/notesSlide5.xml" Id="R0579f0758f554c5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1f18dd4b9641a4" /><Relationship Type="http://schemas.openxmlformats.org/officeDocument/2006/relationships/chart" Target="/ppt/slides/charts/chart1.xml" Id="R5a76c267dd37485f" /><Relationship Type="http://schemas.openxmlformats.org/officeDocument/2006/relationships/notesSlide" Target="/ppt/notesSlides/notesSlide6.xml" Id="Raef0c12d3b5b416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d3cb4027bc483c" /><Relationship Type="http://schemas.openxmlformats.org/officeDocument/2006/relationships/notesSlide" Target="/ppt/notesSlides/notesSlide7.xml" Id="Rdc55c93946a4495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e60237b6fb4485" /><Relationship Type="http://schemas.openxmlformats.org/officeDocument/2006/relationships/notesSlide" Target="/ppt/notesSlides/notesSlide8.xml" Id="Rf81875a5958b4db2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Risk score</c:v>
          </c:tx>
          <c:spPr>
            <a:solidFill xmlns:a="http://schemas.openxmlformats.org/drawingml/2006/main">
              <a:srgbClr val="FF6B35"/>
            </a:solidFill>
          </c:spPr>
          <c:dLbls/>
          <c:cat>
            <c:strLit>
              <c:ptCount val="5"/>
              <c:pt idx="0">
                <c:v>Ganges</c:v>
              </c:pt>
              <c:pt idx="1">
                <c:v>Jakarta</c:v>
              </c:pt>
              <c:pt idx="2">
                <c:v>Lagos</c:v>
              </c:pt>
              <c:pt idx="3">
                <c:v>LA</c:v>
              </c:pt>
              <c:pt idx="4">
                <c:v>Manila</c:v>
              </c:pt>
            </c:strLit>
          </c:cat>
          <c:val>
            <c:numLit>
              <c:formatCode>General</c:formatCode>
              <c:ptCount val="5"/>
              <c:pt idx="0">
                <c:v>79</c:v>
              </c:pt>
              <c:pt idx="1">
                <c:v>69</c:v>
              </c:pt>
              <c:pt idx="2">
                <c:v>67</c:v>
              </c:pt>
              <c:pt idx="3">
                <c:v>66</c:v>
              </c:pt>
              <c:pt idx="4">
                <c:v>66</c:v>
              </c:pt>
            </c:numLit>
          </c:val>
        </c:ser>
        <c:dLbls>
          <c:dLblPos val="outEnd"/>
          <c:showVal val="1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B8BCC4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es val="autoZero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b4a84519074f73"/>
          <a:srcRect xmlns:a="http://schemas.openxmlformats.org/drawingml/2006/main" l="29675" t="0" r="2967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39000" y="0"/>
            <a:ext cx="4953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A1B201-BC0A-4C7B-8F29-2AE0CAF3F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Aegis Earth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FBF45F-D361-4AB6-AD3B-185B244F7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571625"/>
            <a:ext cx="6477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Disaster response should explain what to do first.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28FBF4-DE15-4890-A10E-E329407C6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762500"/>
            <a:ext cx="72390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530DBD-5C96-4386-BA6A-4E59CA19A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5305425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5B7582-B0CB-4360-9BBF-ADB46795D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5781675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product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171B78-600B-4D59-8293-147079A04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6115050"/>
            <a:ext cx="285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Explainable AI command center for crisis triage, resource allocation, and 72-hour simulation.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B26CA5-CFB0-46B7-97F5-3DAB1A1F1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305425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8B8102-F5B0-4DC7-A9BF-6F82D6F6F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781675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thesis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5873D3-C6AE-4DBB-84DD-99C77907B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1505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Most dashboards show events. Aegis Earth recommends defensible action.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628620-886C-4211-8B30-E5850DBF5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95843782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3093E33-00FA-49A4-9AAF-2E285D121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0"/>
            <a:ext cx="48196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2D0BB4-EADC-4AD4-BBA7-CB5F3BC71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619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bottleneck is not data. It is deciding fast enough.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3A2852-A080-49E1-B7B1-28A5C1C94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076450"/>
            <a:ext cx="638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9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Where is risk highest?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ADF92F-266C-4368-858C-3E449FC9A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819400"/>
            <a:ext cx="638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9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Which action protects people fastest?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C9B2B2-F22D-4D95-AC84-ED8B73C73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562350"/>
            <a:ext cx="638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9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Can the plan be defended ethically?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93A3F3-6B99-40AA-A648-FA7EE33F4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305300"/>
            <a:ext cx="638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9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What changes when conditions worsen?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3F67D2-F9A7-4EBF-B367-3528D7769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409700"/>
            <a:ext cx="3476625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Emergency teams already have satellites, weather feeds, hospital status, road reports, shelters, and field updates. The missing layer is an explainable decision engine that connects those signals to action.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D1BB99-D017-4C0A-A57E-6D5B95B50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4811851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6434245-59E9-4E8A-B44E-EAAF7F7F6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8382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working product is a live-feeling crisis room.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88F56A-6F42-4BA0-A255-CA529CEA4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52550"/>
            <a:ext cx="1141095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ffff7b88bd42a8"/>
          <a:stretch xmlns:a="http://schemas.openxmlformats.org/drawingml/2006/main"/>
        </p:blipFill>
        <p:spPr>
          <a:xfrm xmlns:a="http://schemas.openxmlformats.org/drawingml/2006/main">
            <a:off x="2728337" y="1543050"/>
            <a:ext cx="6735325" cy="37909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D7190A-C709-49D7-A76B-7B1AB8A37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9626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AAAD4D-7C52-46E6-B31F-3C9206340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590550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Real interactions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BFAE80-F3DD-4DE1-B399-B89737974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6229350"/>
            <a:ext cx="704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Clickable regions, scenario modes, live alert refresh, and exportable executive brief.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FAAD64-A3E0-4E84-B41A-AF8A89887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1358138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AFE80E3-CCDF-4C19-90AE-84A2496C1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engine explains its decisions before it asks for trust.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12B19A-2232-4887-8551-74C7A790A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2371725"/>
            <a:ext cx="5534025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552468-BCD5-4281-AF99-E500347F1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57475"/>
            <a:ext cx="495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Risk scoring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D3930D-011C-4ADD-94C0-28A2BC979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14675"/>
            <a:ext cx="4905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Hazard, exposure, signals, fragility, equity need, and cascade risk become a ranked regional triage list.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1E30C8-B71F-47C9-A82E-2F3A5B55B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71725"/>
            <a:ext cx="5534025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B6C547-0F1E-4C51-94DA-1776341C5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2657475"/>
            <a:ext cx="495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Signal trust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ED945D-B57F-475E-86A9-5DFBD956A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3114675"/>
            <a:ext cx="4905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Reports are weighted by source channel, confidence, recency, and corroboration before affecting decisions.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67BB3B-2232-47D0-9D7E-72EB21D95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4371975"/>
            <a:ext cx="5534025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22E3B0-7845-4873-AD20-24049F223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57725"/>
            <a:ext cx="495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Optimizer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B583A5-C4AE-4A43-87D6-DE5BBE84F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14925"/>
            <a:ext cx="4905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Resources are selected under budget, team, speed, scarcity, and duplicate-mission constraints.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435429-14B2-4B87-9514-1BC91F8AD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371975"/>
            <a:ext cx="5534025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8FD91D-D0B5-4BC4-A2D0-68288AFC2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4657725"/>
            <a:ext cx="495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Scenario lab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A88240-32B3-49C6-9012-C8AEC16B6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5114925"/>
            <a:ext cx="4905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simulator projects lives protected, sheltered population, systems restored, and unmet need over 72 hours.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758761-F4FB-4EDD-897A-E30486D0B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34183517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991D091-0CFD-4C77-B368-65A3E140A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56197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demo ships with numbers that move when assumptions change.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C1CF41-6C88-4589-8439-A9C5468FD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476250"/>
            <a:ext cx="552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Default surge scenario, synthetic data, verified in-browser.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3AA301-806F-4232-B450-A2C216896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028825"/>
            <a:ext cx="2581275" cy="2657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0DDE2B-83D4-42DE-BF6E-19F329A2C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66975"/>
            <a:ext cx="21050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2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2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61%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6B94D1-8D18-47DE-B0DA-411007D33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800475"/>
            <a:ext cx="19716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Global risk across the synthetic scenario.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46022E-B9E1-4263-B287-A7B4BEC98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2028825"/>
            <a:ext cx="2581275" cy="2657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AE64FA-E4F9-4FB4-ADFA-8B9B77F70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466975"/>
            <a:ext cx="21050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2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2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76ED90-7085-4604-9CED-B9218D320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3800475"/>
            <a:ext cx="19716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Missions selected under budget and team constraints.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05BEA7-646C-4FDD-AE64-7AC69B576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028825"/>
            <a:ext cx="2581275" cy="2657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9B3FFA-BAE6-453C-800E-5D5AD8A1F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2466975"/>
            <a:ext cx="21050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2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2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213k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6D1AE8-DB01-45F8-9375-172323F25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800475"/>
            <a:ext cx="19716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Projected lives protected over 72 hours.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E606B2-0A5C-466A-8514-DE00F37ED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028825"/>
            <a:ext cx="2581275" cy="2657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8C0286-515B-4CFD-B0AF-1144FAB5B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2466975"/>
            <a:ext cx="21050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2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2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6CB0C3-0CE9-4AFE-BB06-38E2AC5FF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800475"/>
            <a:ext cx="19716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Known dependency vulnerabilities after audit.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0F31ED-2297-4417-8A14-F29E2BD78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81625"/>
            <a:ext cx="121920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3ADF35-8CB5-445F-8AE4-1C23F97BD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715000"/>
            <a:ext cx="9429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point is not that the demo predicts the future. The point is that every decision is inspectable, tunable, and testable.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FD4357-05E9-46A7-855C-AC4ED9BD0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6846532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6DC35CE-C70D-4F22-89C3-913B1D1B9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6191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Triage is computed, not curated.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C16C2F-FB45-4512-A238-F52E2948D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038225"/>
            <a:ext cx="5524500" cy="5438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723900" y="1476375"/>
          <a:ext xmlns:a="http://schemas.openxmlformats.org/drawingml/2006/main" cx="4810125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a76c267dd37485f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E4348B-BB54-451C-BB82-D4C941073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704975"/>
            <a:ext cx="5295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Risk evidence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32DFEC-43FF-4736-9E8E-FFCD89748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266950"/>
            <a:ext cx="52959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highest-risk region is not simply the region with the loudest signal. The score combines exposure, infrastructure fragility, equity need, and multi-hazard pressure.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067898-E8E1-4A86-88D2-2E2B79585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4352925"/>
            <a:ext cx="66675" cy="1152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3DDD1D-5293-4A96-9E80-1F9F6B7EC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4076700"/>
            <a:ext cx="2133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2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2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79%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39DA47-ABCD-48A6-A2D9-A3E78D83C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5067300"/>
            <a:ext cx="20669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Top regional risk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343404-EB36-4C6C-9A1D-8E4381461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4352925"/>
            <a:ext cx="66675" cy="1152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A4EBBF-EB76-40BA-9871-A9CE86978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4076700"/>
            <a:ext cx="2133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2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2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74%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A1F2F2-BBF6-4E73-94D6-730ADCB71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5067300"/>
            <a:ext cx="20669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Decision confidence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8EA449-49B4-4420-AD8F-ECBC21523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5038658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F2A2EA1-AC8B-41DD-8391-8F83AD1DF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9334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project is built to be inspected, tested, and challenged.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70506D-CC77-4A4E-9FA3-971ED30C8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295400"/>
            <a:ext cx="114014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AE427E-989D-4C82-8416-47F2E72E7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14097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Proof point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185BD1-5568-4590-88E8-2C98A4DD5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140970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What it proves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D40F4A-38F7-4CEB-8D07-E6A64A5D3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752600"/>
            <a:ext cx="114014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A19275-5028-4D99-A309-56E1039C1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192405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Engine tests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77EE45-06F0-4020-90DE-E8846ABAD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1885950"/>
            <a:ext cx="7524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Risk, signal pressure, optimizer constraints, scenario output, and sanitization.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BD5BCC-08F7-448E-8FAF-D44800D8A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438400"/>
            <a:ext cx="114014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543475-8ED8-49EC-BDBE-E73DC30AD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260985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UI tests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652718-D546-4D55-8C04-BAB4563AE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2571750"/>
            <a:ext cx="7524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Command center render, region selection, scenario mode, and live-feed fallback.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5EB559-93D1-4FB6-BA23-E7E18D89A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124200"/>
            <a:ext cx="114014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3F521A-0F59-4AD9-B63B-2C2B81176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329565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Build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F9B63B-9A1E-4C32-948D-F1B277F12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3257550"/>
            <a:ext cx="7524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TypeScript production build passes with Vite 8.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D575F8-724F-466E-9743-833A372B1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810000"/>
            <a:ext cx="114014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6BE355-4C6F-4F5F-8801-5329BDFC9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398145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Audit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67AA92-CC86-4321-88C8-B9E37AB85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3943350"/>
            <a:ext cx="7524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npm audit reports zero known vulnerabilities at moderate level and above.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E44E11-D8F4-4B9F-BE36-5E50E5671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495800"/>
            <a:ext cx="114014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540E20-57E0-4D55-9BE4-37E4C91E0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66725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Safety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06F4C3-E4DD-4757-88F5-A5CF73926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4629150"/>
            <a:ext cx="7524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Synthetic data by default, optional public alert feed, no secrets, documented limitations.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FA0061B-2897-4C0B-9BD0-9672A6D43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876925"/>
            <a:ext cx="895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Research anchors: NWS API, NOAA/NCEI, NASA FIRMS, Harvard Data-Smart. The app labels emergency data as synthetic unless a public alert feed is explicitly refreshed.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CC1F445-2568-4632-BBAF-B5C98CDB7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8416590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993F244-BEF9-4DDF-9DCE-0499E9618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0668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Aegis Earth is a decision engine for moments when delay is the risk.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3282B3-E75D-4125-B722-9CD4E82EF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76625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DC1AA3-73E3-4C6B-B804-A469D82FC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1719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Open it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271245-0680-4978-9253-4B8FA9470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686300"/>
            <a:ext cx="31908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Run the command center and select a region. The model explains the ranking immediately.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D663A7-98C6-4DEA-B475-D70D56695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476625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BEF6DD-2230-47A9-A621-EF14493A6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41719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Stress it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E19B9E-1E3A-4DBF-9379-809B3655B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4686300"/>
            <a:ext cx="31908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Change scenario mode, budget, climate stress, and public trust. The projection moves.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9FE9F1-3A95-44BE-BD6A-3DC515402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476625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AFF5F2-7897-45F0-A9CB-225FA8428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1719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Inspect it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ACBAAA-39AC-4EC5-8EA6-0758C9967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686300"/>
            <a:ext cx="31908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Read the engine, tests, security note, and architecture. The demo is meant to survive questions.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AA7C8D-3D9C-466E-8805-4CE440F10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14206478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2026-07-11T21:30:52.1090000Z</dcterms:created>
  <dcterms:modified xsi:type="dcterms:W3CDTF">2026-07-11T21:30:52.1090000Z</dcterms:modified>
</coreProperties>
</file>